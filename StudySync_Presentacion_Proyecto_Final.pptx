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56432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  <a:latin typeface="Segoe UI"/>
              </a:rPr>
              <a:t>Issue Realtime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6366F1"/>
                </a:solidFill>
                <a:latin typeface="Segoe UI"/>
              </a:rPr>
              <a:t>Proyecto Final — Programación IV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94A3B8"/>
                </a:solidFill>
                <a:latin typeface="Segoe UI"/>
              </a:rPr>
              <a:t>Verificación completa del flujo en producción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794760"/>
            <a:ext cx="1737360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7947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Python + FastAPI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23160" y="3794760"/>
            <a:ext cx="1737360" cy="411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3160" y="37947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SQLAlchemy + Supabase PostgreSQL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3794760"/>
            <a:ext cx="173736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79" y="37947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Redis Pub/Sub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199" y="3794760"/>
            <a:ext cx="1737360" cy="411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199" y="37947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WebSockets Nativos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3794760"/>
            <a:ext cx="173736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9" y="37947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JWT + Custom Middlewares (Helmet Eq.)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21239" y="3794760"/>
            <a:ext cx="1737360" cy="41148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21239" y="37947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CloudFormation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34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Segoe UI"/>
              </a:rPr>
              <a:t>M.Sc. Jimmy Nataniel Requena Llorentty  •  UPDS Bolivia  • 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92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366F1"/>
                </a:solidFill>
                <a:latin typeface="Segoe UI"/>
              </a:rPr>
              <a:t>github.com/JoseMPB13/issue-realtime-api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2578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6B6D4"/>
                </a:solidFill>
                <a:latin typeface="Segoe UI"/>
              </a:rPr>
              <a:t>issue-realtime-api.onrender.com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Agenda de la Defensa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15 minutos de demostración en vivo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5520" y="228600"/>
            <a:ext cx="2011680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2286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15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1143000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109728" cy="65836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9844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366F1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24358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¿Qué construimos?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536192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Stack completo y arquitectura del sistema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947672"/>
            <a:ext cx="1143000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947672"/>
            <a:ext cx="109728" cy="6583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0574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  <a:latin typeface="Segoe U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00253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API en producción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295144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Swagger UI — registro, login y BearerAuth en vivo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706624"/>
            <a:ext cx="1143000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706624"/>
            <a:ext cx="109728" cy="6583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81635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C55E"/>
                </a:solidFill>
                <a:latin typeface="Segoe U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7614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Datos reales en Supabase PostgreSQL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054096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Table Editor — ver filas creadas en tiempo real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465576"/>
            <a:ext cx="1143000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465576"/>
            <a:ext cx="109728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57530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Segoe U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3520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Frontend + WebSockets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3813048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Dos pestañas — evento Redis llega a todos los navegadores conectados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224528"/>
            <a:ext cx="1143000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4224528"/>
            <a:ext cx="109728" cy="658368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33425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ACC15"/>
                </a:solidFill>
                <a:latin typeface="Segoe U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42793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3 Roles del Campus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4572000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9+ sesiones de Ana Torres, Carlos Méndez y Sofía Vargas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983479"/>
            <a:ext cx="1143000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4983479"/>
            <a:ext cx="109728" cy="6583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093207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F4444"/>
                </a:solidFill>
                <a:latin typeface="Segoe UI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5038343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IaC con LocalStack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0160" y="5330951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S3 + DynamoDB (TTL) + SSM creados desde un YAML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742431"/>
            <a:ext cx="1143000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5742431"/>
            <a:ext cx="109728" cy="65836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85215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4A3B8"/>
                </a:solidFill>
                <a:latin typeface="Segoe UI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80160" y="5797295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Repositorio GitHub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6089903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Commits, estructura por capas, README y entorno de Python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Segoe UI"/>
              </a:rPr>
              <a:t>Issue Realtime  •  Programación IV — UPDS 2026  •  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Stack Tecnológico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Cada pieza tiene un propósito específico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5520" y="228600"/>
            <a:ext cx="201168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2286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12 tecnologías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3749039" cy="11704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91440" cy="1170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527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Python + FastAPI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1848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Servidor ASGI asíncrono y enrutamiento REST ágil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143000"/>
            <a:ext cx="3749039" cy="11704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59" y="1143000"/>
            <a:ext cx="91440" cy="1170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59" y="12527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SQLAlchemy 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161848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Acceso type-safe y consultas optimizadas a SQL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143000"/>
            <a:ext cx="3749039" cy="11704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143000"/>
            <a:ext cx="91440" cy="11704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12527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Supabase PostgreSQL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161848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Base de datos en la nube (Pooler por puerto 6543)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468880"/>
            <a:ext cx="3749039" cy="11704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2468880"/>
            <a:ext cx="91440" cy="1170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57860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Upstash Redis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294436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Pub/Sub y Caché global de lectura ultra rápida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59" y="2468880"/>
            <a:ext cx="3749039" cy="11704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51959" y="2468880"/>
            <a:ext cx="91440" cy="117043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59" y="257860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WebSockets Nativos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59" y="294436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ConnectionManager bidireccional hacia el navegador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2468880"/>
            <a:ext cx="3749039" cy="11704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0" y="2468880"/>
            <a:ext cx="91440" cy="11704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58200" y="257860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PyJWT + bcrypt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294436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Autenticación stateless + Hashing seguro con sal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794760"/>
            <a:ext cx="3749039" cy="11704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3794760"/>
            <a:ext cx="91440" cy="11704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390448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Custom Middlewares (Helmet Eq.)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27024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Cabeceras de seguridad HTTP (X-Frame, CSP, HSTS)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51959" y="3794760"/>
            <a:ext cx="3749039" cy="11704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51959" y="3794760"/>
            <a:ext cx="91440" cy="1170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80559" y="390448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Swagger / OpenAPI 3.0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59" y="427024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Documentación interactiva nativa con BearerAuth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3794760"/>
            <a:ext cx="3749039" cy="11704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29600" y="3794760"/>
            <a:ext cx="91440" cy="1170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58200" y="390448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CloudFormation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427024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Infraestructura como Código (IaC) declarativa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5120640"/>
            <a:ext cx="3749039" cy="11704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74320" y="5120640"/>
            <a:ext cx="91440" cy="11704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523036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LocalStack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5596127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Simula S3, DynamoDB y SSM localmente con Docker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51959" y="5120640"/>
            <a:ext cx="3749039" cy="11704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251959" y="5120640"/>
            <a:ext cx="91440" cy="1170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80559" y="523036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Render.com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80559" y="5596127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Deploy automático con gestión de puerto dinámico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0" y="5120640"/>
            <a:ext cx="3749039" cy="11704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29600" y="5120640"/>
            <a:ext cx="91440" cy="117043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58200" y="523036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Vanilla JS + CSS (SPA)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58200" y="5596127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Frontend reactivo por componentes en frontend/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Segoe UI"/>
              </a:rPr>
              <a:t>Issue Realtime  •  Programación IV — UPDS 2026  •  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Arquitectura del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Flujo completo de una petición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7406640" cy="5577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713232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06B6D4"/>
                </a:solidFill>
                <a:latin typeface="Segoe UI"/>
              </a:rPr>
              <a:t>  NAVEGADOR (frontend/index.html)
       │  HTTP REST + WebSocket Nativo (/ws)
       ▼
  ┌─────────────────────────────────────────┐
  │         FASTAPI API  (app/)             │
  │  Custom Middlewares (Helmet Eq.) → CORS → RateLimit → JWT Auth   │
  │  POST /auth/register   POST /auth/login │
  │  GET /api/reportes  (con caché Redis)           │
  │  POST/PUT/DELETE /api/reportes (JWT)    │
  └────────────┬────────────────┬───────────┘
               │                │
  ┌────────────▼───┐   ┌────────▼──────────┐
  │  Upstash Redis │   │  Supabase PostgreSQL (Cloud) │
  │  pub.publish() │   │  PostgreSQL       │
  │  (Caché &amp; P/S) │   │  SQLAlchemy ORM       │
  └────────────┬───┘   └───────────────────┘
               │
  ┌────────────▼──────────────┐
  │  redis_pubsub_listener             │
  │  (Hilo Daemon persistente)        │
  │  manager.broadcast()  │
  └────────────┬──────────────┘
               │  WebSocket broadcast
  ┌────────────▼──────────────┐
  │  TODOS los navegadores    │
  │  conectados reciben el    │
  │  evento en tiempo real    │
  └───────────────────────────┘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0972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Componentes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79" y="1600200"/>
            <a:ext cx="320040" cy="3200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6002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Frontend HTML/CSS/JS (SPA)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2286000"/>
            <a:ext cx="320040" cy="3200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22860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Base de datos Supabase PostgreSQL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2971800"/>
            <a:ext cx="32004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29718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Mensajería y Caché Upstash Redis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3657600"/>
            <a:ext cx="320040" cy="3200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36576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Tiempo real WebSockets Nativos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4343400"/>
            <a:ext cx="320040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43434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Autenticación JWT + Blacklist Redis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79" y="5029200"/>
            <a:ext cx="320040" cy="32004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50292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IaC CloudFormation + LocalStack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Segoe UI"/>
              </a:rPr>
              <a:t>Issue Realtime  •  Programación IV — UPDS 2026  •  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Demo Paso 1 — Swagger UI en Producción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issue-realtime-api.onrender.com/docs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5520" y="228600"/>
            <a:ext cx="2011680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2286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API Docs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411480" cy="411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1887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1704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Abrir en el navegador: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572768"/>
            <a:ext cx="960120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57276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  <a:latin typeface="Segoe UI"/>
              </a:rPr>
              <a:t>  https://issue-realtime-api.onrender.com/docs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  <a:latin typeface="Segoe UI"/>
              </a:rPr>
              <a:t>Qué deben ver: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606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C55E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606040"/>
            <a:ext cx="10588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Sección Auth: POST /auth/register, POST /auth/login y POST /auth/logout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2971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C55E"/>
                </a:solidFill>
                <a:latin typeface="Segoe U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2971800"/>
            <a:ext cx="10588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Sección Reportes: endpoints CRUD protegidos con candado 🔒 en POST/PUT/DELETE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3337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C55E"/>
                </a:solidFill>
                <a:latin typeface="Segoe U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3337560"/>
            <a:ext cx="10588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Botón Authorize (candado OAuth2 Bearer) en la esquina superior derecha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3703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C55E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3703320"/>
            <a:ext cx="10588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Servidor: https://issue-realtime-api.onrender.com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2148840"/>
            <a:ext cx="5943600" cy="4297680"/>
          </a:xfrm>
          <a:prstGeom prst="rect">
            <a:avLst/>
          </a:prstGeom>
          <a:solidFill>
            <a:srgbClr val="1A283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40690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366F1"/>
                </a:solidFill>
                <a:latin typeface="Segoe UI"/>
              </a:rPr>
              <a:t>[ Captura: Swagger UI cargado en producción
  con secciones Auth, Reportes y Usuarios visibles 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Segoe UI"/>
              </a:rPr>
              <a:t>Issue Realtime  •  Programación IV — UPDS 2026  •  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Demo Paso 2 — Registrar Usuarios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POST /auth/register — contraseña hasheada con bcrypt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5520" y="228600"/>
            <a:ext cx="201168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2286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bcrypt seguro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411480" cy="411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1887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1704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Registrar los 3 roles normativos del campus: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91640"/>
            <a:ext cx="530352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691640"/>
            <a:ext cx="109728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737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Segoe UI"/>
              </a:rPr>
              <a:t>Rol Estudiante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0391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Ana Torres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3317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ana.torres@upds.edu.bo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56032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  <a:latin typeface="Segoe UI"/>
              </a:rPr>
              <a:t>Reporta Incidencias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971800"/>
            <a:ext cx="530352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971800"/>
            <a:ext cx="109728" cy="1143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017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Segoe UI"/>
              </a:rPr>
              <a:t>Rol Técnico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3192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Carlos Méndez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6118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carlos.mendez@upds.edu.bo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84048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B6D4"/>
                </a:solidFill>
                <a:latin typeface="Segoe UI"/>
              </a:rPr>
              <a:t>Atiende Mantenimiento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251960"/>
            <a:ext cx="530352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251960"/>
            <a:ext cx="109728" cy="1143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2976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Segoe UI"/>
              </a:rPr>
              <a:t>Rol Admin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5994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Sofía Vargas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8920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sofia.vargas@upds.edu.bo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12064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  <a:latin typeface="Segoe UI"/>
              </a:rPr>
              <a:t>Gestión de Infraestructura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0" y="1691640"/>
            <a:ext cx="603504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0" y="17830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Respuesta esperada (201 Created):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2148840"/>
            <a:ext cx="576072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06B6D4"/>
                </a:solidFill>
                <a:latin typeface="Segoe UI"/>
              </a:rPr>
              <a:t>{
  "ok": true,
  "mensaje": "Usuario registrado exitosamente",
  "usuario": {
    "id": 3,
    "nombre": "Carlos Méndez",
    "email": "carlos.mendez@upds.edu.bo",
    "rol": "tecnico"
  }
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41148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Segoe UI"/>
              </a:rPr>
              <a:t>⚠️  El campo hashed_password NUNCA aparece en la respuesta (Filtrado por Pydantic DTO)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0" y="4526280"/>
            <a:ext cx="6035040" cy="2011680"/>
          </a:xfrm>
          <a:prstGeom prst="rect">
            <a:avLst/>
          </a:prstGeom>
          <a:solidFill>
            <a:srgbClr val="1A283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2160" y="53035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366F1"/>
                </a:solidFill>
                <a:latin typeface="Segoe UI"/>
              </a:rPr>
              <a:t>[ Captura: POST /auth/register
  con respuesta 201 en Swagger 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Segoe UI"/>
              </a:rPr>
              <a:t>Issue Realtime  •  Programación IV — UPDS 2026  •  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Demo Paso 3 — Login y Token JWT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POST /auth/login → devuelve el access_token (JSON Web Token)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5520" y="228600"/>
            <a:ext cx="201168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2286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JWT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411480" cy="411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1887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17043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¿Qué es un JWT?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6002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Segoe UI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737360"/>
            <a:ext cx="1124712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81051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Segoe UI"/>
              </a:rPr>
              <a:t>HEADER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1783080"/>
            <a:ext cx="6858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egoe UI"/>
              </a:rPr>
              <a:t>eyJhbGciOiJIUzI1NiIsInR5cCI6IkpXVCJ9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084831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→ Algoritmo: HS256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514600"/>
            <a:ext cx="1124712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58775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Segoe UI"/>
              </a:rPr>
              <a:t>PAYLOAD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2560320"/>
            <a:ext cx="6858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egoe UI"/>
              </a:rPr>
              <a:t>eyJpZCI6MywiZW1haWwiOiIuLi4iLCJyb2wiOiIuLi4ifQ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286207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→ Datos: id, email, nombre, rol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291839"/>
            <a:ext cx="1124712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364991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C55E"/>
                </a:solidFill>
                <a:latin typeface="Segoe UI"/>
              </a:rPr>
              <a:t>SIGNATURE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3337559"/>
            <a:ext cx="6858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egoe UI"/>
              </a:rPr>
              <a:t>SflKxwRJSMeKKF2QT4fwpMeJf36POk6yJV_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3639311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→ Firma criptográfica con la SECRET_KEY del backend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41605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ACC15"/>
                </a:solidFill>
                <a:latin typeface="Segoe UI"/>
              </a:rPr>
              <a:t>Analogía: es como un ticket de cine firmado — no se puede falsificar,
pero todos pueden leer qué película dice (no guardes passwords en el payload).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4983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Pasos en Swagger: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376672"/>
            <a:ext cx="411480" cy="411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53766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376672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Expandir POST /auth/login → Try it out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724144"/>
            <a:ext cx="411480" cy="411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572414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724144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Poner email y password → Execute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6071616"/>
            <a:ext cx="411480" cy="411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607161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607161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Copiar el token de la respuesta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6419088"/>
            <a:ext cx="411480" cy="411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64190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641908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Clic en Authorize (candado) → pegar → Authorize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0" y="3931920"/>
            <a:ext cx="5943600" cy="2651760"/>
          </a:xfrm>
          <a:prstGeom prst="rect">
            <a:avLst/>
          </a:prstGeom>
          <a:solidFill>
            <a:srgbClr val="1A283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0" y="50292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366F1"/>
                </a:solidFill>
                <a:latin typeface="Segoe UI"/>
              </a:rPr>
              <a:t>[ Captura: respuesta del login
  con el token JWT visible
  + botón Authorize completado 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Segoe UI"/>
              </a:rPr>
              <a:t>Issue Realtime  •  Programación IV — UPDS 2026  •  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Demo Paso 4 — Rol Estudiante: Ana Torres (Reporta Incidencias)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POST /api/sesiones con Authorization: Bearer &lt;token&gt;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5520" y="228600"/>
            <a:ext cx="201168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2286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3 reportes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411480" cy="411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1887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1704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Crear las 3 reportes de Reporta Incidencias: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91640"/>
            <a:ext cx="5486400" cy="8046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691640"/>
            <a:ext cx="91440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7647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Segoe UI"/>
              </a:rPr>
              <a:t>#1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737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Algebra Lineal — Matrices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10312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El equipo no enciende y presenta un goteo constante de agua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606040"/>
            <a:ext cx="5486400" cy="8046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606040"/>
            <a:ext cx="91440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6791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Segoe UI"/>
              </a:rPr>
              <a:t>#2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2651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Algebra Lineal — Vectores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01752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Cables de red y de corriente sueltos detrás del rack principal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520440"/>
            <a:ext cx="5486400" cy="8046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3520440"/>
            <a:ext cx="91440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5935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Segoe UI"/>
              </a:rPr>
              <a:t>#3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566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Algebra Lineal — Examen parcial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93192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La puerta de ingreso principal no cierra correctamente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45537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Formulario Multipart para cada reporte: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919472"/>
            <a:ext cx="539496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956048"/>
            <a:ext cx="512064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6B6D4"/>
                </a:solidFill>
                <a:latin typeface="Segoe UI"/>
              </a:rPr>
              <a:t>{
  "titulo": "Algebra Lineal — Matrices",
  "materia": "Matematicas",
  "descripcion": "Operaciones con matrices"
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1691640"/>
            <a:ext cx="5943600" cy="4846320"/>
          </a:xfrm>
          <a:prstGeom prst="rect">
            <a:avLst/>
          </a:prstGeom>
          <a:solidFill>
            <a:srgbClr val="1A283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0" y="38862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366F1"/>
                </a:solidFill>
                <a:latin typeface="Segoe UI"/>
              </a:rPr>
              <a:t>[ Captura: POST /api/reportes con token
  y respuesta 201 mostrando
  id, titulo, estado, url_foto y usuario_id 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Segoe UI"/>
              </a:rPr>
              <a:t>Issue Realtime  •  Programación IV — UPDS 2026  •  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Demo Paso 5 — Grupos 2 y 3: Redes y Prog 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Cada rol con su propio token y alcances (RBAC)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5520" y="228600"/>
            <a:ext cx="2011680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2286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6 acciones más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411480" cy="411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1887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88720"/>
            <a:ext cx="5486400" cy="411480"/>
          </a:xfrm>
          <a:prstGeom prst="rect">
            <a:avLst/>
          </a:prstGeom>
          <a:solidFill>
            <a:srgbClr val="064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188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Segoe UI"/>
              </a:rPr>
              <a:t>  Carlos Méndez — Atiende Mantenimiento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664208"/>
            <a:ext cx="54864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1664208"/>
            <a:ext cx="91440" cy="5943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171907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Segoe UI"/>
              </a:rPr>
              <a:t>#4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170078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Redes — Modelo OSI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19842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Técnico asignado revisando el compresor en el aula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322576"/>
            <a:ext cx="54864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322576"/>
            <a:ext cx="91440" cy="5943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237744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Segoe UI"/>
              </a:rPr>
              <a:t>#5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235915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Redes — TCP/IP y subnetting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264261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Reorganizando y aislando líneas de red expuestas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980944"/>
            <a:ext cx="54864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2980944"/>
            <a:ext cx="91440" cy="5943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303580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Segoe UI"/>
              </a:rPr>
              <a:t>#6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301752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Redes — Laboratorio Cisco Packet Tracer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330098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"Se requiere cambio de capacitor eléctrico"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703320"/>
            <a:ext cx="5486400" cy="411480"/>
          </a:xfrm>
          <a:prstGeom prst="rect">
            <a:avLst/>
          </a:prstGeom>
          <a:solidFill>
            <a:srgbClr val="05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37033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  <a:latin typeface="Segoe UI"/>
              </a:rPr>
              <a:t>  Sofía Vargas — Gestión de Infraestructura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178808"/>
            <a:ext cx="54864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4178808"/>
            <a:ext cx="91440" cy="5943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423367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C55E"/>
                </a:solidFill>
                <a:latin typeface="Segoe UI"/>
              </a:rPr>
              <a:t>#7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421538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Prog IV — Express REST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" y="44988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Cambio de chapa y picaporte completado con éxito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837176"/>
            <a:ext cx="54864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4837176"/>
            <a:ext cx="91440" cy="5943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" y="489204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C55E"/>
                </a:solidFill>
                <a:latin typeface="Segoe UI"/>
              </a:rPr>
              <a:t>#8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" y="487375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Prog IV — SQLAlchemy ORM y Supabase PostgreSQL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" y="515721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Canaletas instaladas y cables sellados de forma segura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5495544"/>
            <a:ext cx="54864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0040" y="5495544"/>
            <a:ext cx="91440" cy="5943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" y="5550407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C55E"/>
                </a:solidFill>
                <a:latin typeface="Segoe UI"/>
              </a:rPr>
              <a:t>#9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" y="553212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Prog IV — Redis PubSub y WebSockets Nativos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" y="5815583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Disparo automático de la notificación de cierre de falla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1188720"/>
            <a:ext cx="5943600" cy="5349240"/>
          </a:xfrm>
          <a:prstGeom prst="rect">
            <a:avLst/>
          </a:prstGeom>
          <a:solidFill>
            <a:srgbClr val="1A283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0" y="363473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366F1"/>
                </a:solidFill>
                <a:latin typeface="Segoe UI"/>
              </a:rPr>
              <a:t>[ Captura: GET /api/reportes mostrando
  las incidencias actualizadas con historial
  de estados y comentarios técnicos 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Segoe UI"/>
              </a:rPr>
              <a:t>Issue Realtime  •  Programación IV — UPDS 2026  •  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Demo Paso 6 — Datos Reales en Supabase PostgreSQL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Table Editor → tabla 'sesiones' — persistencia real en la nube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5520" y="228600"/>
            <a:ext cx="2011680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2286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PostgreSQL ☁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411480" cy="411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1887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1704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Verificar en Supabase PostgreSQL que los datos persisten: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645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Instrucciones: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57400"/>
            <a:ext cx="411480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057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057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Abrir supabase.com → tu proyecto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560320"/>
            <a:ext cx="411480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2560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560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Table Editor → tablas reportes e historial_estados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063240"/>
            <a:ext cx="411480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0632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063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Ver las filas creadas y modificadas desde la API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566160"/>
            <a:ext cx="411480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5661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566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Ver tabla usuarios → perfiles registrados con rol asignado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69080"/>
            <a:ext cx="411480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40690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069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Verificar que 'usuario_id' y llaves foráneas enlazan correctamente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4709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CC15"/>
                </a:solidFill>
                <a:latin typeface="Segoe UI"/>
              </a:rPr>
              <a:t>Punto pedagógico clave: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507492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Antes usábamos un array en memoria [ ].
Si el servidor se reinicia, se pierden todos los datos.
Ahora con SQLAlchemy + Supabase PostgreSQL, los datos sobreviven
cualquier reinicio. Esto es persistencia real.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1188720"/>
            <a:ext cx="5943600" cy="2834640"/>
          </a:xfrm>
          <a:prstGeom prst="rect">
            <a:avLst/>
          </a:prstGeom>
          <a:solidFill>
            <a:srgbClr val="1A283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0" y="23774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366F1"/>
                </a:solidFill>
                <a:latin typeface="Segoe UI"/>
              </a:rPr>
              <a:t>[ Captura: Supabase PostgreSQL Table Editor
  mostrando tabla 'sesiones'
  con las 12 filas visibles 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4114800"/>
            <a:ext cx="5943600" cy="2423160"/>
          </a:xfrm>
          <a:prstGeom prst="rect">
            <a:avLst/>
          </a:prstGeom>
          <a:solidFill>
            <a:srgbClr val="1A283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0" y="50977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366F1"/>
                </a:solidFill>
                <a:latin typeface="Segoe UI"/>
              </a:rPr>
              <a:t>[ Captura: tabla 'usuarios'
  con las contraseñas cifradas
  irreversiblemente en hashed_password 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Segoe UI"/>
              </a:rPr>
              <a:t>Issue Realtime  •  Programación IV — UPDS 2026  •  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Demo Paso 7 — Tiempo Real con Redis + WebSockets Nativos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Canal: API (BackgroundTasks) → Upstash Redis → ConnectionManager → Navegadores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5520" y="228600"/>
            <a:ext cx="201168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2286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Pub/Sub Live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411480" cy="411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1887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1704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Abrir DOS pestañas del navegador: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91640"/>
            <a:ext cx="5486400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691640"/>
            <a:ext cx="91440" cy="7132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837944"/>
            <a:ext cx="411480" cy="411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83794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17465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  <a:latin typeface="Segoe UI"/>
              </a:rPr>
              <a:t>Pestaña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057400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issue-realtime-api.onrender.com → login → panel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496312"/>
            <a:ext cx="5486400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496312"/>
            <a:ext cx="91440" cy="7132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642616"/>
            <a:ext cx="411480" cy="411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64261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255117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  <a:latin typeface="Segoe UI"/>
              </a:rPr>
              <a:t>Pestaña 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2862072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issue-realtime-api.onrender.com → login con otro usuario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300984"/>
            <a:ext cx="5486400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300984"/>
            <a:ext cx="91440" cy="7132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447288"/>
            <a:ext cx="41148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4472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33558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Segoe UI"/>
              </a:rPr>
              <a:t>En Pestaña 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666744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Enviar formulario de nuevo reporte (se ejecuta en BackgroundTasks)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105656"/>
            <a:ext cx="5486400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4105656"/>
            <a:ext cx="91440" cy="7132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251960"/>
            <a:ext cx="411480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2519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4160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  <a:latin typeface="Segoe UI"/>
              </a:rPr>
              <a:t>En Pestaña 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4471416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El feed del Dashboard se actualiza INSTANTÁNEAMENTE con un destello (.row-highlight)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910328"/>
            <a:ext cx="5486400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910328"/>
            <a:ext cx="91440" cy="7132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5056632"/>
            <a:ext cx="411480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05663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9651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  <a:latin typeface="Segoe UI"/>
              </a:rPr>
              <a:t>En ambas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5276088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Badge '🟢 Conectado' visible — WebSocket activo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" y="58704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ACC15"/>
                </a:solidFill>
                <a:latin typeface="Segoe UI"/>
              </a:rPr>
              <a:t>Analogía Redis Pub/Sub: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" y="61447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ACC15"/>
                </a:solidFill>
                <a:latin typeface="Segoe UI"/>
              </a:rPr>
              <a:t>"Como un grupo de WhatsApp: publicas un mensaje y
todos los miembros del grupo lo reciben al instante."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0" y="1188720"/>
            <a:ext cx="5943600" cy="2651760"/>
          </a:xfrm>
          <a:prstGeom prst="rect">
            <a:avLst/>
          </a:prstGeom>
          <a:solidFill>
            <a:srgbClr val="1A283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0" y="22860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366F1"/>
                </a:solidFill>
                <a:latin typeface="Segoe UI"/>
              </a:rPr>
              <a:t>[ Captura: Pestaña A — formulario
  y botón crear sesión ]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0" y="3931920"/>
            <a:ext cx="5943600" cy="2651760"/>
          </a:xfrm>
          <a:prstGeom prst="rect">
            <a:avLst/>
          </a:prstGeom>
          <a:solidFill>
            <a:srgbClr val="1A283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0" y="50292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366F1"/>
                </a:solidFill>
                <a:latin typeface="Segoe UI"/>
              </a:rPr>
              <a:t>[ Captura: Pestaña B — feed
  mostrando el evento recibido
  en tiempo real 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Segoe UI"/>
              </a:rPr>
              <a:t>Issue Realtime  •  Programación IV — UPDS 2026  •  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Demo Paso 8 — Headers de Seguridad (Custom Middlewares (Helmet Eq.)) + JWT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DevTools F12 → Network → Cabeceras de Respuesta HTTP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5520" y="228600"/>
            <a:ext cx="201168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2286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Custom Middlewares (Helmet Eq.) 🛡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411480" cy="411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1887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1704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Verificar con DevTools del navegador (F12 → Network):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6642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Segoe UI"/>
              </a:rPr>
              <a:t>Header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6642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Segoe UI"/>
              </a:rPr>
              <a:t>Valor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1664208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Segoe UI"/>
              </a:rPr>
              <a:t>Protección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029968"/>
            <a:ext cx="1152144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12140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  <a:latin typeface="Segoe UI"/>
              </a:rPr>
              <a:t>x-frame-options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12140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F59E0B"/>
                </a:solidFill>
                <a:latin typeface="Segoe UI"/>
              </a:rPr>
              <a:t>SAMEORIGIN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2121408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Evita ataques de Clickjacking (bloquea embedding en iframes externos)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596896"/>
            <a:ext cx="1152144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688336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  <a:latin typeface="Segoe UI"/>
              </a:rPr>
              <a:t>x-content-type-options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688336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F59E0B"/>
                </a:solidFill>
                <a:latin typeface="Segoe UI"/>
              </a:rPr>
              <a:t>nosniff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2688336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Fuerza al navegador a respetar el tipo MIME estricto del recurso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163824"/>
            <a:ext cx="1152144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25526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  <a:latin typeface="Segoe UI"/>
              </a:rPr>
              <a:t>strict-transport-security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3255264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F59E0B"/>
                </a:solidFill>
                <a:latin typeface="Segoe UI"/>
              </a:rPr>
              <a:t>max-age=31536000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60" y="3255264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Fuerza conexiones HTTPS seguras (HSTS) por el periodo de un año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730752"/>
            <a:ext cx="1152144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822191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  <a:latin typeface="Segoe UI"/>
              </a:rPr>
              <a:t>x-xss-protection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3822191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F59E0B"/>
                </a:solidFill>
                <a:latin typeface="Segoe UI"/>
              </a:rPr>
              <a:t>1; mode=block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3822191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Activa el filtro nativo contra inyección de scripts maliciosos (XSS)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297680"/>
            <a:ext cx="1152144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3891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  <a:latin typeface="Segoe UI"/>
              </a:rPr>
              <a:t>rate-limit (Redis)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438912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F59E0B"/>
                </a:solidFill>
                <a:latin typeface="Segoe UI"/>
              </a:rPr>
              <a:t>100 req / 15min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23560" y="438912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Mitiga ataques de fuerza bruta y denegación de servicio (DoS) distribuida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864608"/>
            <a:ext cx="1152144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95604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  <a:latin typeface="Segoe UI"/>
              </a:rPr>
              <a:t>content-security-policy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495604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F59E0B"/>
                </a:solidFill>
                <a:latin typeface="Segoe UI"/>
              </a:rPr>
              <a:t>(configurado)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23560" y="4956048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Controla la carga exclusiva de recursos desde fuentes de confianza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555955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Segoe UI"/>
              </a:rPr>
              <a:t>POST /logout → registra token en Redis Blacklist (setex) con TTL dinámico | Solicitudes revocadas → 401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6720" y="5212080"/>
            <a:ext cx="3840480" cy="1371600"/>
          </a:xfrm>
          <a:prstGeom prst="rect">
            <a:avLst/>
          </a:prstGeom>
          <a:solidFill>
            <a:srgbClr val="1A283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0" y="56692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366F1"/>
                </a:solidFill>
                <a:latin typeface="Segoe UI"/>
              </a:rPr>
              <a:t>[ Captura: DevTools → Headers
  de respuesta inyectados de forma asíncronas 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Segoe UI"/>
              </a:rPr>
              <a:t>Issue Realtime  •  Programación IV — UPDS 2026  •  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Demo Paso 9 — Infrastructure as Code (IaC)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AWS CloudFormation + LocalStack — mismo YAML, diferente comando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5520" y="228600"/>
            <a:ext cx="2011680" cy="50292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2286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IaC ☁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411480" cy="411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1887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1704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¿Qué es IaC? Definición declarativa de infraestructura cloud: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664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Segoe UI"/>
              </a:rPr>
              <a:t>Sin IaC (ClickOps manual):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9933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F4444"/>
                </a:solidFill>
                <a:latin typeface="Segoe UI"/>
              </a:rPr>
              <a:t>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1993392"/>
            <a:ext cx="10588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Configurar buckets e interruptores a mano en la consola 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34086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F4444"/>
                </a:solidFill>
                <a:latin typeface="Segoe UI"/>
              </a:rPr>
              <a:t>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340864"/>
            <a:ext cx="10588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Proceso inestable propenso a errores humanos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268833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F4444"/>
                </a:solidFill>
                <a:latin typeface="Segoe UI"/>
              </a:rP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2688336"/>
            <a:ext cx="10588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Entornos dev/prod asimétricos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30358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F4444"/>
                </a:solidFill>
                <a:latin typeface="Segoe UI"/>
              </a:rPr>
              <a:t>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3035808"/>
            <a:ext cx="10588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No se puede reproducir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1664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  <a:latin typeface="Segoe UI"/>
              </a:rPr>
              <a:t>Con IaC (CloudFormation):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19933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C55E"/>
                </a:solidFill>
                <a:latin typeface="Segoe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41648" y="1993392"/>
            <a:ext cx="10588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Escribir el plano de diseño en `template.yaml`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34086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C55E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41648" y="2340864"/>
            <a:ext cx="10588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Un solo comando aprovisiona toda la arquitectura de 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268833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C55E"/>
                </a:solidFill>
                <a:latin typeface="Segoe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41648" y="2688336"/>
            <a:ext cx="10588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Réplicas idénticas y seguras en segundos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30358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C55E"/>
                </a:solidFill>
                <a:latin typeface="Segoe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41648" y="3035808"/>
            <a:ext cx="10588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Control de cambios versionado e histórico en Git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374903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Recursos creados en LocalStack: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133087"/>
            <a:ext cx="5486400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133087"/>
            <a:ext cx="91440" cy="6217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178807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Segoe UI"/>
              </a:rPr>
              <a:t>S3 Bucket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0" y="4178807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issue-realtime-adjuntos-development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48055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Almacenamiento de archivos adjuntos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846320"/>
            <a:ext cx="5486400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846320"/>
            <a:ext cx="91440" cy="6217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8920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Segoe UI"/>
              </a:rPr>
              <a:t>DynamoDB Table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60320" y="4892040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issue-realtime-eventos-development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19379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Registro de eventos con TTL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5559552"/>
            <a:ext cx="5486400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5559552"/>
            <a:ext cx="91440" cy="6217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560527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Segoe UI"/>
              </a:rPr>
              <a:t>SSM Parameter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60320" y="5605272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/issue-realtime/development/api-url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590702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Configuración centralizada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0" y="3703320"/>
            <a:ext cx="5943600" cy="2834640"/>
          </a:xfrm>
          <a:prstGeom prst="rect">
            <a:avLst/>
          </a:prstGeom>
          <a:solidFill>
            <a:srgbClr val="1A283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0" y="48920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366F1"/>
                </a:solidFill>
                <a:latin typeface="Segoe UI"/>
              </a:rPr>
              <a:t>[ Captura: terminal con resultado
  awslocal cloudformation
  describe-stack-resources --output table ]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1965960"/>
            <a:ext cx="36576" cy="13716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Segoe UI"/>
              </a:rPr>
              <a:t>Issue Realtime  •  Programación IV — UPDS 2026  •  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Demo Paso 10 — Repositorio 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github.com/JoseMPB13/issue-realtime-api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5520" y="228600"/>
            <a:ext cx="201168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2286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Open Source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411480" cy="411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1887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1704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Lo que destaca en nuestro repositorio Git: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66420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Historial estructurado de commits: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029968"/>
            <a:ext cx="1005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F59E0B"/>
                </a:solidFill>
                <a:latin typeface="Segoe UI"/>
              </a:rPr>
              <a:t>0c14d07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02996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egoe UI"/>
              </a:rPr>
              <a:t>docs: README completo y .env.example para nuevos alumnos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487168"/>
            <a:ext cx="1005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F59E0B"/>
                </a:solidFill>
                <a:latin typeface="Segoe UI"/>
              </a:rPr>
              <a:t>6e4b64a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48716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egoe UI"/>
              </a:rPr>
              <a:t>chore: ignorar directorio .claude en git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944368"/>
            <a:ext cx="1005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F59E0B"/>
                </a:solidFill>
                <a:latin typeface="Segoe UI"/>
              </a:rPr>
              <a:t>09fe534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94436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egoe UI"/>
              </a:rPr>
              <a:t>docs: guía final IaC, SQLAlchemy+Supabase PostgreSQL y producción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401568"/>
            <a:ext cx="1005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F59E0B"/>
                </a:solidFill>
                <a:latin typeface="Segoe UI"/>
              </a:rPr>
              <a:t>c79fecc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40156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egoe UI"/>
              </a:rPr>
              <a:t>chore: agregar evento de prueba DynamoDB para demo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858768"/>
            <a:ext cx="1005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F59E0B"/>
                </a:solidFill>
                <a:latin typeface="Segoe UI"/>
              </a:rPr>
              <a:t>d0e271f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85876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egoe UI"/>
              </a:rPr>
              <a:t>feat: JWT auth, SQLAlchemy+Supabase PostgreSQL, Custom Middlewares (Helmet Eq.), frontend, CloudFormation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315968"/>
            <a:ext cx="1005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F59E0B"/>
                </a:solidFill>
                <a:latin typeface="Segoe UI"/>
              </a:rPr>
              <a:t>f7fca67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31596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egoe UI"/>
              </a:rPr>
              <a:t>fix: corregir puerto Render y completar Redis pub/sub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773168"/>
            <a:ext cx="1005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F59E0B"/>
                </a:solidFill>
                <a:latin typeface="Segoe UI"/>
              </a:rPr>
              <a:t>8516f99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77316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egoe UI"/>
              </a:rPr>
              <a:t>feat: swagger UI, CORS, rate-limit, redis pub/sub, socket.io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230368"/>
            <a:ext cx="1005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F59E0B"/>
                </a:solidFill>
                <a:latin typeface="Segoe UI"/>
              </a:rPr>
              <a:t>945da3a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23036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egoe UI"/>
              </a:rPr>
              <a:t>feat: CRUD completo de sesiones con 5 endpoints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687568"/>
            <a:ext cx="1005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F59E0B"/>
                </a:solidFill>
                <a:latin typeface="Segoe UI"/>
              </a:rPr>
              <a:t>01413ee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68756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egoe UI"/>
              </a:rPr>
              <a:t>feat: setup inicial del proyecto Issue Realtime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1188720"/>
            <a:ext cx="5943600" cy="3017520"/>
          </a:xfrm>
          <a:prstGeom prst="rect">
            <a:avLst/>
          </a:prstGeom>
          <a:solidFill>
            <a:srgbClr val="1A283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0" y="24688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366F1"/>
                </a:solidFill>
                <a:latin typeface="Segoe UI"/>
              </a:rPr>
              <a:t>[ Captura: GitHub — árbol de archivos
  con estructura src/, prisma/,
  cloudformation/, public/ 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4343400"/>
            <a:ext cx="5943600" cy="2194560"/>
          </a:xfrm>
          <a:prstGeom prst="rect">
            <a:avLst/>
          </a:prstGeom>
          <a:solidFill>
            <a:srgbClr val="1A283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52120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366F1"/>
                </a:solidFill>
                <a:latin typeface="Segoe UI"/>
              </a:rPr>
              <a:t>[ Captura: GitHub — historial
  de commits con mensajes
  descriptivos 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Segoe UI"/>
              </a:rPr>
              <a:t>Issue Realtime  •  Programación IV — UPDS 2026  •  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Checklist de Verificación Final QA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16 puntos — todos deben estar en verde para aprobar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5520" y="228600"/>
            <a:ext cx="2011680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2286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16/16 ✓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70432"/>
            <a:ext cx="566928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26187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  <a:latin typeface="Segoe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28930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/register crea usuario → id + sin password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70432"/>
            <a:ext cx="566928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26187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  <a:latin typeface="Segoe U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59" y="128930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/register email duplicado → 409 Conflict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828800"/>
            <a:ext cx="566928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192024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  <a:latin typeface="Segoe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194767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/login correcto → JWT en respuesta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828800"/>
            <a:ext cx="566928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192024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  <a:latin typeface="Segoe U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59" y="194767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/login password incorrecto → 401 genérico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487168"/>
            <a:ext cx="566928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257860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  <a:latin typeface="Segoe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2606039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POST sin token → 401 con hint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487168"/>
            <a:ext cx="566928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257860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  <a:latin typeface="Segoe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59" y="2606039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DELETE sin token → 401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145536"/>
            <a:ext cx="566928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323697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  <a:latin typeface="Segoe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326440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GET /api/sesiones sin token → 200 público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145536"/>
            <a:ext cx="566928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323697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  <a:latin typeface="Segoe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59" y="326440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POST con JWT → 201, sesión en Supabase PostgreSQL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803904"/>
            <a:ext cx="566928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" y="389534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  <a:latin typeface="Segoe U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" y="392277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PUT con JWT → campos actualizados en Supabase PostgreSQL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3803904"/>
            <a:ext cx="566928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27648" y="389534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  <a:latin typeface="Segoe U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59" y="392277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DELETE con JWT → eliminado de Supabase PostgreSQL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462272"/>
            <a:ext cx="566928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455371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  <a:latin typeface="Segoe U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59" y="458114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GET /999 → 404 not found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4462272"/>
            <a:ext cx="566928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27648" y="455371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  <a:latin typeface="Segoe UI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59" y="458114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Swagger carga con BearerAuth y 4 paths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5120640"/>
            <a:ext cx="566928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4048" y="521208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  <a:latin typeface="Segoe UI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59" y="523951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Frontend: badge 🟢 Conectado visible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5120640"/>
            <a:ext cx="566928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27648" y="521208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  <a:latin typeface="Segoe UI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59" y="523951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Crear sesión → feed actualizado en 2 pestañas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5779008"/>
            <a:ext cx="566928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4048" y="587044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  <a:latin typeface="Segoe UI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59" y="58978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Headers Custom Middlewares (Helmet Eq.) en respuestas (X-Frame-Options...)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7920" y="5779008"/>
            <a:ext cx="566928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27648" y="587044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  <a:latin typeface="Segoe UI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59" y="58978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Deploy Render → ✓ Deployed, sin PORT fijo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Segoe UI"/>
              </a:rPr>
              <a:t>Issue Realtime  •  Programación IV — UPDS 2026  •  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Cobertura — Actividades 3 y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Consolidación de aprendizajes en la base del proyecto distribuido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5520" y="228600"/>
            <a:ext cx="201168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2286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Aprobado Sobresaliente 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115568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6366F1"/>
                </a:solidFill>
                <a:latin typeface="Segoe UI"/>
              </a:rPr>
              <a:t>ACTIVIDAD 3 — API REST Segura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73152" cy="4846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  <a:latin typeface="Segoe UI"/>
              </a:rPr>
              <a:t>✓  API REST completa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92807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5 endpoints CRUD + 2 de autenticación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5856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  <a:latin typeface="Segoe UI"/>
              </a:rPr>
              <a:t>✓  Base de datos real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551175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Supabase PostgreSQL con SQLAlchemy 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1693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  <a:latin typeface="Segoe UI"/>
              </a:rPr>
              <a:t>✓  Autenticación JWT + Blacklist Redis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20954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Register, Login, middleware autenticar.js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57530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  <a:latin typeface="Segoe UI"/>
              </a:rPr>
              <a:t>✓  Seguridad HTTP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86791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Custom Middlewares (Helmet Eq.): X-Frame-Options, CSP, HSTS y más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3367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  <a:latin typeface="Segoe UI"/>
              </a:rPr>
              <a:t>✓  CORS + Rate Limiting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52628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100 req/15min por IP en /api/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920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  <a:latin typeface="Segoe UI"/>
              </a:rPr>
              <a:t>✓  Documentación OpenAPI 3.0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18464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Swagger UI con BearerAuth funcional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1115568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6B6D4"/>
                </a:solidFill>
                <a:latin typeface="Segoe UI"/>
              </a:rPr>
              <a:t>ACTIVIDAD 4 — Tiempo Real e IaC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1115568"/>
            <a:ext cx="73152" cy="4846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60020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  <a:latin typeface="Segoe UI"/>
              </a:rPr>
              <a:t>✓  Redis Pub/Sub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1892807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Upstash → eventos publicados en cada creación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25856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  <a:latin typeface="Segoe UI"/>
              </a:rPr>
              <a:t>✓  WebSockets WebSockets Nativos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551175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Broadcast a todos los clientes conectados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916936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  <a:latin typeface="Segoe UI"/>
              </a:rPr>
              <a:t>✓  Frontend en tiempo real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20954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Badge conexión + feed de eventos en vivo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575304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  <a:latin typeface="Segoe UI"/>
              </a:rPr>
              <a:t>✓  Infrastructure as Code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86791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CloudFormation YAML con S3, DynamoDB, SSM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23367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  <a:latin typeface="Segoe UI"/>
              </a:rPr>
              <a:t>✓  LocalStack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52628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Simula AWS en Docker — mismo YAML, sin costo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89204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  <a:latin typeface="Segoe UI"/>
              </a:rPr>
              <a:t>✓  Deploy CI/CD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518464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GitHub push → Render despliega automáticamente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Segoe UI"/>
              </a:rPr>
              <a:t>Issue Realtime  •  Programación IV — UPDS 2026  •  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Próximos Pasos — ¿Qué pueden hacer el fin de semana?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El repositorio es tuyo — clónalo, modifícalo, defiéndelo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5520" y="228600"/>
            <a:ext cx="201168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2286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Pre-Defense Task 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143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Preparativos clave para la defensa del día Lunes: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64208"/>
            <a:ext cx="566928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664208"/>
            <a:ext cx="91440" cy="1417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7373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Clonar el proyecto localmente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103120"/>
            <a:ext cx="521208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59" y="2139696"/>
            <a:ext cx="5029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6366F1"/>
                </a:solidFill>
                <a:latin typeface="Segoe UI"/>
              </a:rPr>
              <a:t>git clone https://github.com/JoseMPB13/issue-realtime-api.git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688336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→ Disponer del código fuente en tu entorno de desarrollo local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664208"/>
            <a:ext cx="566928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664208"/>
            <a:ext cx="91440" cy="1417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7373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Vincular tus credenciales de entorno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2103120"/>
            <a:ext cx="521208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59" y="2139696"/>
            <a:ext cx="5029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06B6D4"/>
                </a:solidFill>
                <a:latin typeface="Segoe UI"/>
              </a:rPr>
              <a:t>Supabase PostgreSQL gratis (2 proyectos) + Upstash gratis (10k cmd/día)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688336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→ Instancia propia e independiente corriendo en la nube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200400"/>
            <a:ext cx="566928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200400"/>
            <a:ext cx="91440" cy="1417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27355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Instalar dependencias y levantar el servidor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639312"/>
            <a:ext cx="521208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59" y="3675887"/>
            <a:ext cx="5029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22C55E"/>
                </a:solidFill>
                <a:latin typeface="Segoe UI"/>
              </a:rPr>
              <a:t>pip install -r requirements.txt &amp;&amp; uvicorn app.main:app --reload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22452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→ Verificar el arranque óptimo del servidor en http://localhost:8000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200400"/>
            <a:ext cx="566928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3200400"/>
            <a:ext cx="91440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27355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Simular el flujo con tus datos reales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46520" y="3639312"/>
            <a:ext cx="521208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59" y="3675887"/>
            <a:ext cx="5029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F59E0B"/>
                </a:solidFill>
                <a:latin typeface="Segoe UI"/>
              </a:rPr>
              <a:t>Registrar los 3 roles distintos y generar reportes históricos en las categorías del campus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22452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→ Demostrar dominio absoluto de la lógica relacional y asíncrona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736592"/>
            <a:ext cx="566928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4736592"/>
            <a:ext cx="91440" cy="141732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80974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Personalizar o extender una funcionalidad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5175504"/>
            <a:ext cx="521208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59" y="5212079"/>
            <a:ext cx="5029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FACC15"/>
                </a:solidFill>
                <a:latin typeface="Segoe UI"/>
              </a:rPr>
              <a:t>Agregar validación Pydantic, ajustar estilos CSS o añadir un log descriptivo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7607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→ Demostrar autoría propia sobre el software desarrollado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4736592"/>
            <a:ext cx="566928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0" y="4736592"/>
            <a:ext cx="91440" cy="1417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480974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Ensayar el guión de la demostración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46520" y="5175504"/>
            <a:ext cx="521208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59" y="5212079"/>
            <a:ext cx="5029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EF4444"/>
                </a:solidFill>
                <a:latin typeface="Segoe UI"/>
              </a:rPr>
              <a:t>Swagger + Supabase PostgreSQL + Frontend en tiempo real + GitHub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57607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→ Perfeccionar el manejo de tiempos durante la presentación ante el tribunal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Segoe UI"/>
              </a:rPr>
              <a:t>Issue Realtime  •  Programación IV — UPDS 2026  •  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64992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Segoe UI"/>
              </a:rPr>
              <a:t>¡Proyecto Completado con Éxito!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Segoe UI"/>
              </a:rPr>
              <a:t>Issue Realtime — en producción, en la nube, con datos reales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2996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6366F1"/>
                </a:solidFill>
                <a:latin typeface="Segoe UI"/>
              </a:rPr>
              <a:t>📦  github.com/JoseMPB13/issue-realtime-api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42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6B6D4"/>
                </a:solidFill>
                <a:latin typeface="Segoe UI"/>
              </a:rPr>
              <a:t>🌐  issue-realtime-api.onrender.com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4436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2C55E"/>
                </a:solidFill>
                <a:latin typeface="Segoe UI"/>
              </a:rPr>
              <a:t>📚  /docs  (Swagger UI con todos los endpoints)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66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Componentes integrados del sistema distribuido: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77639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ACC15"/>
                </a:solidFill>
                <a:latin typeface="Segoe UI"/>
              </a:rPr>
              <a:t>API REST  •  JWT Auth  •  SQLAlchemy ORM  •  Supabase PostgreSQL  •  Redis Pub/Sub
WebSockets Nativos WebSockets  •  Custom Middlewares (Helmet Eq.) Security  •  Swagger OpenAPI  •  CloudFormation IaC
Rate Limiting distribuido por IP  •  Swagger OpenAPI 3.0  •  AWS CloudFormation IaC  •  LocalStack Docker Emulation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436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Segoe UI"/>
              </a:rPr>
              <a:t>M.Sc. Jimmy Nataniel Requena Llorentty  •  Programación IV — UPDS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