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4747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456432"/>
            <a:ext cx="12188952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  <a:latin typeface="Segoe UI"/>
              </a:rPr>
              <a:t>StudySync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6366F1"/>
                </a:solidFill>
                <a:latin typeface="Segoe UI"/>
              </a:rPr>
              <a:t>Proyecto Final — Programación 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94A3B8"/>
                </a:solidFill>
                <a:latin typeface="Segoe UI"/>
              </a:rPr>
              <a:t>Verificación completa del flujo en producción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794760"/>
            <a:ext cx="1737360" cy="4114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Node.js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23160" y="3794760"/>
            <a:ext cx="1737360" cy="411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37947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Prisma + Supabase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3794760"/>
            <a:ext cx="173736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37947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Redis Pub/Sub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199" y="3794760"/>
            <a:ext cx="173736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199" y="37947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Socket.io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9" y="3794760"/>
            <a:ext cx="1737360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9" y="37947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JWT + Helmet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21239" y="3794760"/>
            <a:ext cx="1737360" cy="411480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21239" y="37947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CloudFormation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434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Segoe UI"/>
              </a:rPr>
              <a:t>M.Sc. Jimmy Nataniel Requena Llorentty  •  UPDS Bolivia  • 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8920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366F1"/>
                </a:solidFill>
                <a:latin typeface="Segoe UI"/>
              </a:rPr>
              <a:t>github.com/bolivianotech/studysync-api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6B6D4"/>
                </a:solidFill>
                <a:latin typeface="Segoe UI"/>
              </a:rPr>
              <a:t>studysync-api-a5o9.onrender.com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Agenda de la Defensa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15 minutos de demostración en vivo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1143000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109728" cy="65836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9844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366F1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24358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¿Qué construimos?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536192"/>
            <a:ext cx="9875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Stack completo y arquitectura del sistema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947672"/>
            <a:ext cx="1143000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947672"/>
            <a:ext cx="109728" cy="6583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0574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  <a:latin typeface="Segoe U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0025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API en producción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295144"/>
            <a:ext cx="9875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Swagger UI — registro, login y BearerAuth en vivo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706624"/>
            <a:ext cx="1143000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706624"/>
            <a:ext cx="109728" cy="6583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81635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Segoe U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614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Datos reales en Supabase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054096"/>
            <a:ext cx="9875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Table Editor — ver filas creadas en tiempo real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465576"/>
            <a:ext cx="1143000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3465576"/>
            <a:ext cx="109728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57530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  <a:latin typeface="Segoe U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3520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Frontend + WebSockets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813048"/>
            <a:ext cx="9875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Dos pestañas — evento Redis llega a todos los clientes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224528"/>
            <a:ext cx="1143000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224528"/>
            <a:ext cx="109728" cy="658368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334256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CC15"/>
                </a:solidFill>
                <a:latin typeface="Segoe U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2793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3 Grupos de estudio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572000"/>
            <a:ext cx="9875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9+ sesiones de Ana Torres, Carlos Méndez y Sofía Vargas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983479"/>
            <a:ext cx="1143000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" y="4983479"/>
            <a:ext cx="109728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093207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  <a:latin typeface="Segoe U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5038343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IaC con LocalStack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5330951"/>
            <a:ext cx="9875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S3 + DynamoDB + SSM creados desde un YAML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5742431"/>
            <a:ext cx="1143000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5742431"/>
            <a:ext cx="109728" cy="65836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852159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4A3B8"/>
                </a:solidFill>
                <a:latin typeface="Segoe UI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" y="5797295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Repositorio GitHub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6089903"/>
            <a:ext cx="9875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Commits, estructura, README y guía de instalación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StudySync API  •  Programación IV — UPDS 2026  •  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Stack Tecnológico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Cada pieza tiene un propósito específico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12 tecnologías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3749039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91440" cy="1170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52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Node.js + Express v5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184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Servidor HTTP y rutas REST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143000"/>
            <a:ext cx="3749039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143000"/>
            <a:ext cx="91440" cy="1170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1252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Prisma ORM 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16184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Acceso type-safe a PostgreSQL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143000"/>
            <a:ext cx="3749039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143000"/>
            <a:ext cx="91440" cy="117043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1252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Supabase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16184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PostgreSQL en la nube (gratis)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468880"/>
            <a:ext cx="3749039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2468880"/>
            <a:ext cx="91440" cy="1170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5786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Redis / Upstash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294436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Pub/Sub para mensajes en tiempo real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59" y="2468880"/>
            <a:ext cx="3749039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51959" y="2468880"/>
            <a:ext cx="91440" cy="1170432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59" y="25786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Socket.io v4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294436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WebSockets hacia el navegador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2468880"/>
            <a:ext cx="3749039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2468880"/>
            <a:ext cx="91440" cy="117043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25786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JWT + bcryptjs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294436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Autenticación sin estado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794760"/>
            <a:ext cx="3749039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3794760"/>
            <a:ext cx="91440" cy="1170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390448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Helmet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27024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12 headers de seguridad HTTP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1959" y="3794760"/>
            <a:ext cx="3749039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51959" y="3794760"/>
            <a:ext cx="91440" cy="1170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80559" y="390448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Swagger / OpenAPI 3.0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59" y="427024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Documentación interactiva de la API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3794760"/>
            <a:ext cx="3749039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29600" y="3794760"/>
            <a:ext cx="91440" cy="1170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58200" y="390448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CloudFormation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427024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Infraestructura como Código (IaC)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5120640"/>
            <a:ext cx="3749039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74320" y="5120640"/>
            <a:ext cx="91440" cy="117043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2303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LocalStack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596127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Simula AWS localmente con Docker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51959" y="5120640"/>
            <a:ext cx="3749039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51959" y="5120640"/>
            <a:ext cx="91440" cy="1170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80559" y="52303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Render.com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59" y="5596127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Deploy automático desde GitHub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0" y="5120640"/>
            <a:ext cx="3749039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29600" y="5120640"/>
            <a:ext cx="91440" cy="117043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58200" y="52303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Vanilla JS + CSS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58200" y="5596127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Frontend sin frameworks, en public/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StudySync API  •  Programación IV — UPDS 2026  •  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Arquitectura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Flujo completo de una petición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7406640" cy="5577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97280"/>
            <a:ext cx="713232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06B6D4"/>
                </a:solidFill>
                <a:latin typeface="Segoe UI"/>
              </a:rPr>
              <a:t>  NAVEGADOR (public/index.html)
       │  HTTP REST + WebSocket (Socket.io)
       ▼
  ┌─────────────────────────────────────────┐
  │         EXPRESS API  (src/)             │
  │  Helmet → CORS → RateLimit → JWT Auth   │
  │  POST /auth/register   POST /auth/login │
  │  GET /api/sesiones  (público)           │
  │  POST/PUT/DELETE /api/sesiones (JWT)    │
  └────────────┬────────────────┬───────────┘
               │                │
  ┌────────────▼───┐   ┌────────▼──────────┐
  │  Upstash Redis │   │  Supabase (Cloud) │
  │  pub.publish() │   │  PostgreSQL       │
  │  sub.subscribe │   │  Prisma ORM       │
  └────────────┬───┘   └───────────────────┘
               │
  ┌────────────▼──────────────┐
  │  subscribers/             │
  │  notificaciones.js        │
  │  io.emit('nuevo-evento')  │
  └────────────┬──────────────┘
               │  WebSocket broadcast
  ┌────────────▼──────────────┐
  │  TODOS los navegadores    │
  │  conectados reciben el    │
  │  evento en tiempo real    │
  └───────────────────────────┘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10972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Componentes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1600200"/>
            <a:ext cx="320040" cy="3200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6002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Frontend HTML/CSS/JS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286000"/>
            <a:ext cx="320040" cy="3200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2860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Base de datos PostgreSQL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2971800"/>
            <a:ext cx="320040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9718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Mensajería Redis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9" y="3657600"/>
            <a:ext cx="320040" cy="3200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6576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Tiempo real Socket.io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4343400"/>
            <a:ext cx="320040" cy="320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43434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Autenticación JWT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55279" y="5029200"/>
            <a:ext cx="320040" cy="320040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50292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IaC CloudFormation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StudySync API  •  Programación IV — UPDS 2026  •  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Demo Paso 1 — Swagger UI en Producción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studysync-api-a5o9.onrender.com/api-docs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API Docs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704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Abrir en el navegador: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572768"/>
            <a:ext cx="96012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57276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  <a:latin typeface="Segoe UI"/>
              </a:rPr>
              <a:t>  https://studysync-api-a5o9.onrender.com/api-docs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4A3B8"/>
                </a:solidFill>
                <a:latin typeface="Segoe UI"/>
              </a:rPr>
              <a:t>Qué deben ver: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606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606040"/>
            <a:ext cx="10588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Sección Auth: POST /auth/register y POST /auth/login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2971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971800"/>
            <a:ext cx="10588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Sección Sesiones: 5 endpoints con candado 🔒 en POST/PUT/DELETE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37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3337560"/>
            <a:ext cx="10588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Botón Authorize (candado) en la esquina superior derecha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3703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3703320"/>
            <a:ext cx="10588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Servidor: https://studysync-api-a5o9.onrender.com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2148840"/>
            <a:ext cx="5943600" cy="4297680"/>
          </a:xfrm>
          <a:prstGeom prst="rect">
            <a:avLst/>
          </a:prstGeom>
          <a:solidFill>
            <a:srgbClr val="1A283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40690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366F1"/>
                </a:solidFill>
                <a:latin typeface="Segoe UI"/>
              </a:rPr>
              <a:t>[ Captura: Swagger UI cargado en producción
  con secciones Auth y Sesiones visibles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StudySync API  •  Programación IV — UPDS 2026  •  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Demo Paso 2 — Registrar Usuarios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POST /auth/register — contraseña hasheada con bcrypt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bcrypt 12 rounds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704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Registrar los 3 grupos de estudio: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91640"/>
            <a:ext cx="5303520" cy="1143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691640"/>
            <a:ext cx="109728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373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Segoe UI"/>
              </a:rPr>
              <a:t>Grupo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03911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Ana Torres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3317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ana.torres@upds.edu.bo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56032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9E0B"/>
                </a:solidFill>
                <a:latin typeface="Segoe UI"/>
              </a:rPr>
              <a:t>Matemáticas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971800"/>
            <a:ext cx="5303520" cy="1143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2971800"/>
            <a:ext cx="109728" cy="1143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017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Grupo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3192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Carlos Méndez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6118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carlos.mendez@upds.edu.bo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84048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4"/>
                </a:solidFill>
                <a:latin typeface="Segoe UI"/>
              </a:rPr>
              <a:t>Redes de Computadoras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251960"/>
            <a:ext cx="5303520" cy="1143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251960"/>
            <a:ext cx="109728" cy="1143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2976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Segoe UI"/>
              </a:rPr>
              <a:t>Grupo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59943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Sofía Vargas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sofia.vargas@upds.edu.bo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12064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Segoe UI"/>
              </a:rPr>
              <a:t>Programación IV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0" y="1691640"/>
            <a:ext cx="6035040" cy="228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17830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Respuesta esperada (201 Created):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2148840"/>
            <a:ext cx="576072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06B6D4"/>
                </a:solidFill>
                <a:latin typeface="Segoe UI"/>
              </a:rPr>
              <a:t>{
  "ok": true,
  "mensaje": "Usuario registrado exitosamente",
  "usuario": {
    "id": 3,
    "nombre": "Carlos Méndez",
    "email": "carlos.mendez@...",
    "creadoEn": "2026-..."
  }
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41148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Segoe UI"/>
              </a:rPr>
              <a:t>⚠️  El campo password NUNCA aparece en la respuesta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4526280"/>
            <a:ext cx="6035040" cy="2011680"/>
          </a:xfrm>
          <a:prstGeom prst="rect">
            <a:avLst/>
          </a:prstGeom>
          <a:solidFill>
            <a:srgbClr val="1A283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160" y="530352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366F1"/>
                </a:solidFill>
                <a:latin typeface="Segoe UI"/>
              </a:rPr>
              <a:t>[ Captura: POST /auth/register
  con respuesta 201 en Swagger 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StudySync API  •  Programación IV — UPDS 2026  •  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Demo Paso 3 — Login y Token JWT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POST /auth/login → devuelve eyJhbGci... (JSON Web Token)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JWT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704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¿Qué es un JWT?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6002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Segoe UI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737360"/>
            <a:ext cx="11247120" cy="685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81051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Segoe UI"/>
              </a:rPr>
              <a:t>HEADER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783080"/>
            <a:ext cx="6858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eyJhbGciOiJIUzI1NiIsInR5cCI6IkpXVCJ9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2084831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→ Algoritmo: HS256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514600"/>
            <a:ext cx="11247120" cy="685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5877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  <a:latin typeface="Segoe UI"/>
              </a:rPr>
              <a:t>PAYLOAD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560320"/>
            <a:ext cx="6858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eyJpZCI6MSwiZW1haWwiOiIuLi4ifQ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2862072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→ Datos: id, email, nombre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291839"/>
            <a:ext cx="11247120" cy="685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364991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  <a:latin typeface="Segoe UI"/>
              </a:rPr>
              <a:t>SIGNATURE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3337559"/>
            <a:ext cx="6858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SflKxwRJSMeKKF2QT4fwpMeJf36POk6yJV_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3639311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→ Firma con JWT_SECRET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41605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ACC15"/>
                </a:solidFill>
                <a:latin typeface="Segoe UI"/>
              </a:rPr>
              <a:t>Analogía: es como un ticket de cine firmado — no se puede falsificar,
pero todos pueden leer qué película dice (no guardes passwords en el payload).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Pasos en Swagger: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5376672"/>
            <a:ext cx="41148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537667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376672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Expandir POST /auth/login → Try it out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5724144"/>
            <a:ext cx="41148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57241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724144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Poner email y password → Execute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6071616"/>
            <a:ext cx="41148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0716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071616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Copiar el token de la respuesta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6419088"/>
            <a:ext cx="41148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64190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41908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Clic en Authorize (candado) → pegar → Authorize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3931920"/>
            <a:ext cx="5943600" cy="2651760"/>
          </a:xfrm>
          <a:prstGeom prst="rect">
            <a:avLst/>
          </a:prstGeom>
          <a:solidFill>
            <a:srgbClr val="1A283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0" y="50292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366F1"/>
                </a:solidFill>
                <a:latin typeface="Segoe UI"/>
              </a:rPr>
              <a:t>[ Captura: respuesta del login
  con el token JWT visible
  + botón Authorize completado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StudySync API  •  Programación IV — UPDS 2026  •  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Demo Paso 4 — Grupo 1: Ana Torres (Matemáticas)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POST /api/sesiones con Authorization: Bearer &lt;token&gt;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3 sesiones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704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Crear las 3 sesiones de Matemáticas: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691640"/>
            <a:ext cx="5486400" cy="8046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1691640"/>
            <a:ext cx="9144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Segoe UI"/>
              </a:rPr>
              <a:t>#11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737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Algebra Lineal — Matrices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10312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Operaciones con matrices y determinantes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606040"/>
            <a:ext cx="5486400" cy="8046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606040"/>
            <a:ext cx="9144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67919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Segoe UI"/>
              </a:rPr>
              <a:t>#12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651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Algebra Lineal — Vectores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1752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Espacios vectoriales y transformaciones lineales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520440"/>
            <a:ext cx="5486400" cy="8046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3520440"/>
            <a:ext cx="9144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59359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Segoe UI"/>
              </a:rPr>
              <a:t>#13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566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Algebra Lineal — Examen parcial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393192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Repaso completo antes del parcial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5537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Body JSON para cada sesión: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919472"/>
            <a:ext cx="539496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956048"/>
            <a:ext cx="512064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06B6D4"/>
                </a:solidFill>
                <a:latin typeface="Segoe UI"/>
              </a:rPr>
              <a:t>{
  "titulo": "Algebra Lineal — Matrices",
  "materia": "Matematicas",
  "descripcion": "Operaciones con matrices"
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1691640"/>
            <a:ext cx="5943600" cy="4846320"/>
          </a:xfrm>
          <a:prstGeom prst="rect">
            <a:avLst/>
          </a:prstGeom>
          <a:solidFill>
            <a:srgbClr val="1A283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38862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366F1"/>
                </a:solidFill>
                <a:latin typeface="Segoe UI"/>
              </a:rPr>
              <a:t>[ Captura: POST /api/sesiones con token
  y respuesta 201 mostrando
  id, titulo, materia y autor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StudySync API  •  Programación IV — UPDS 2026  •  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Demo Paso 5 — Grupos 2 y 3: Redes y Prog 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Cada grupo con su propio token JWT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6 sesiones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188720"/>
            <a:ext cx="5486400" cy="411480"/>
          </a:xfrm>
          <a:prstGeom prst="rect">
            <a:avLst/>
          </a:prstGeom>
          <a:solidFill>
            <a:srgbClr val="064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1887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  <a:latin typeface="Segoe UI"/>
              </a:rPr>
              <a:t>  Carlos Méndez — Redes de Computadoras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664208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664208"/>
            <a:ext cx="91440" cy="5943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171907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  <a:latin typeface="Segoe UI"/>
              </a:rPr>
              <a:t>#5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170078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Redes — Modelo OSI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198424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Las 7 capas del modelo OSI explicadas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322576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322576"/>
            <a:ext cx="91440" cy="5943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237744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  <a:latin typeface="Segoe UI"/>
              </a:rPr>
              <a:t>#6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23591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Redes — TCP/IP y subnetting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264261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Cálculo de subredes IPv4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980944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2980944"/>
            <a:ext cx="91440" cy="5943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303580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  <a:latin typeface="Segoe UI"/>
              </a:rPr>
              <a:t>#7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301752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Redes — Laboratorio Cisco Packet Tracer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33009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Configuración de routers y switches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703320"/>
            <a:ext cx="5486400" cy="411480"/>
          </a:xfrm>
          <a:prstGeom prst="rect">
            <a:avLst/>
          </a:prstGeom>
          <a:solidFill>
            <a:srgbClr val="05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37033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  <a:latin typeface="Segoe UI"/>
              </a:rPr>
              <a:t>  Sofía Vargas — Programación IV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178808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4178808"/>
            <a:ext cx="91440" cy="5943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423367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  <a:latin typeface="Segoe UI"/>
              </a:rPr>
              <a:t>#8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" y="421538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Prog IV — Express REST 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" y="449884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Construcción de APIs con Node.js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837176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0040" y="4837176"/>
            <a:ext cx="91440" cy="5943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489204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  <a:latin typeface="Segoe UI"/>
              </a:rPr>
              <a:t>#9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8992" y="48737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Prog IV — Prisma ORM y Supabase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" y="515721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Conexión a PostgreSQL con Prisma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5495544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0040" y="5495544"/>
            <a:ext cx="91440" cy="5943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5550407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  <a:latin typeface="Segoe UI"/>
              </a:rPr>
              <a:t>#10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" y="553212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Prog IV — Redis PubSub y Socket.io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8992" y="5815583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Mensajería en tiempo real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1188720"/>
            <a:ext cx="5943600" cy="5349240"/>
          </a:xfrm>
          <a:prstGeom prst="rect">
            <a:avLst/>
          </a:prstGeom>
          <a:solidFill>
            <a:srgbClr val="1A283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363473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366F1"/>
                </a:solidFill>
                <a:latin typeface="Segoe UI"/>
              </a:rPr>
              <a:t>[ Captura: GET /api/sesiones mostrando
  las 12 sesiones de los 3 grupos
  con autor incluido en cada una 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StudySync API  •  Programación IV — UPDS 2026  •  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Demo Paso 6 — Datos Reales en Supabase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Table Editor → tabla 'sesiones' — persistencia real en la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PostgreSQL ☁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704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Verificar en Supabase que los datos persisten: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Instrucciones: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411480" cy="4114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0574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057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Abrir supabase.com → tu proyecto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560320"/>
            <a:ext cx="411480" cy="4114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5603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560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Table Editor → tabla sesiones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063240"/>
            <a:ext cx="411480" cy="4114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0632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Ver las 12 filas creadas desde la 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566160"/>
            <a:ext cx="411480" cy="4114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5661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566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Ver tabla usuarios → 5 usuarios registrados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069080"/>
            <a:ext cx="411480" cy="4114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40690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069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Verificar que 'autor_id' relaciona correctamente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4709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ACC15"/>
                </a:solidFill>
                <a:latin typeface="Segoe UI"/>
              </a:rPr>
              <a:t>Punto pedagógico clave: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507492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Antes usábamos un array en memoria [ ].
Si el servidor se reinicia, se pierden todos los datos.
Ahora con Prisma + Supabase, los datos sobreviven
cualquier reinicio. Esto es persistencia real.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1188720"/>
            <a:ext cx="5943600" cy="2834640"/>
          </a:xfrm>
          <a:prstGeom prst="rect">
            <a:avLst/>
          </a:prstGeom>
          <a:solidFill>
            <a:srgbClr val="1A283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23774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366F1"/>
                </a:solidFill>
                <a:latin typeface="Segoe UI"/>
              </a:rPr>
              <a:t>[ Captura: Supabase Table Editor
  mostrando tabla 'sesiones'
  con las 12 filas visibles 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0" y="4114800"/>
            <a:ext cx="5943600" cy="2423160"/>
          </a:xfrm>
          <a:prstGeom prst="rect">
            <a:avLst/>
          </a:prstGeom>
          <a:solidFill>
            <a:srgbClr val="1A283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0" y="50977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366F1"/>
                </a:solidFill>
                <a:latin typeface="Segoe UI"/>
              </a:rPr>
              <a:t>[ Captura: tabla 'usuarios'
  con los 5 registros
  (sin el campo password) 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StudySync API  •  Programación IV — UPDS 2026  •  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Demo Paso 7 — Tiempo Real con Redis + Socket.io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El evento viaja: API → Redis → Socket.io → TODOS los navegadores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Pub/Sub Live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704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Abrir DOS pestañas del navegador: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691640"/>
            <a:ext cx="5486400" cy="7132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1691640"/>
            <a:ext cx="91440" cy="7132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37944"/>
            <a:ext cx="41148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8379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4650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Segoe UI"/>
              </a:rPr>
              <a:t>Pestaña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057400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studysync-api-a5o9.onrender.com → login → panel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496312"/>
            <a:ext cx="5486400" cy="7132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496312"/>
            <a:ext cx="91440" cy="7132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642616"/>
            <a:ext cx="411480" cy="411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6426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5511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  <a:latin typeface="Segoe UI"/>
              </a:rPr>
              <a:t>Pestaña 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2862072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studysync-api-a5o9.onrender.com → login con otro usuario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300984"/>
            <a:ext cx="5486400" cy="7132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3300984"/>
            <a:ext cx="91440" cy="7132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447288"/>
            <a:ext cx="41148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4472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3558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Segoe UI"/>
              </a:rPr>
              <a:t>En Pestaña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666744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Crear una sesión nueva desde el formulario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105656"/>
            <a:ext cx="5486400" cy="7132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4105656"/>
            <a:ext cx="91440" cy="71323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251960"/>
            <a:ext cx="411480" cy="4114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2519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1605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Segoe UI"/>
              </a:rPr>
              <a:t>En Pestaña 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471416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El feed de eventos se actualiza INSTANTÁNEAMENTE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4910328"/>
            <a:ext cx="5486400" cy="7132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4910328"/>
            <a:ext cx="91440" cy="71323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056632"/>
            <a:ext cx="411480" cy="4114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05663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9651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Segoe UI"/>
              </a:rPr>
              <a:t>En ambas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27608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Badge '🟢 Conectado' visible — WebSocket activo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587044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ACC15"/>
                </a:solidFill>
                <a:latin typeface="Segoe UI"/>
              </a:rPr>
              <a:t>Analogía Redis Pub/Sub: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61447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ACC15"/>
                </a:solidFill>
                <a:latin typeface="Segoe UI"/>
              </a:rPr>
              <a:t>"Como un grupo de WhatsApp: publicas un mensaje y
todos los miembros del grupo lo reciben al instante."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1188720"/>
            <a:ext cx="5943600" cy="2651760"/>
          </a:xfrm>
          <a:prstGeom prst="rect">
            <a:avLst/>
          </a:prstGeom>
          <a:solidFill>
            <a:srgbClr val="1A283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0" y="22860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366F1"/>
                </a:solidFill>
                <a:latin typeface="Segoe UI"/>
              </a:rPr>
              <a:t>[ Captura: Pestaña A — formulario
  y botón crear sesión 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3931920"/>
            <a:ext cx="5943600" cy="2651760"/>
          </a:xfrm>
          <a:prstGeom prst="rect">
            <a:avLst/>
          </a:prstGeom>
          <a:solidFill>
            <a:srgbClr val="1A283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0" y="50292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366F1"/>
                </a:solidFill>
                <a:latin typeface="Segoe UI"/>
              </a:rPr>
              <a:t>[ Captura: Pestaña B — feed
  mostrando el evento recibido
  en tiempo real 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StudySync API  •  Programación IV — UPDS 2026  •  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Demo Paso 8 — Headers de Seguridad (Helmet) + JWT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DevTools F12 → Network → Response Headers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Helmet 🛡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704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Verificar con DevTools del navegador (F12 → Network):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66420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Segoe UI"/>
              </a:rPr>
              <a:t>Header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6642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Segoe UI"/>
              </a:rPr>
              <a:t>Valor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1664208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Segoe UI"/>
              </a:rPr>
              <a:t>Protección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029968"/>
            <a:ext cx="1152144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12140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EF4444"/>
                </a:solidFill>
                <a:latin typeface="Segoe UI"/>
              </a:rPr>
              <a:t>x-frame-options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121408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F59E0B"/>
                </a:solidFill>
                <a:latin typeface="Segoe UI"/>
              </a:rPr>
              <a:t>SAMEORIGIN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2121408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Evita clickjacking (no embed en iframe externo)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596896"/>
            <a:ext cx="11521440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688336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EF4444"/>
                </a:solidFill>
                <a:latin typeface="Segoe UI"/>
              </a:rPr>
              <a:t>x-content-type-options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688336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F59E0B"/>
                </a:solidFill>
                <a:latin typeface="Segoe UI"/>
              </a:rPr>
              <a:t>nosniff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3560" y="2688336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El browser NO adivina el tipo MIME del archivo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163824"/>
            <a:ext cx="1152144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255264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EF4444"/>
                </a:solidFill>
                <a:latin typeface="Segoe UI"/>
              </a:rPr>
              <a:t>cross-origin-opener-policy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255264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F59E0B"/>
                </a:solidFill>
                <a:latin typeface="Segoe UI"/>
              </a:rPr>
              <a:t>same-origin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3255264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Aísla el contexto de navegación (anti-Spectre)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730752"/>
            <a:ext cx="11521440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822191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EF4444"/>
                </a:solidFill>
                <a:latin typeface="Segoe UI"/>
              </a:rPr>
              <a:t>referrer-policy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3822191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F59E0B"/>
                </a:solidFill>
                <a:latin typeface="Segoe UI"/>
              </a:rPr>
              <a:t>no-referrer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60" y="3822191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No envía la URL actual como Referer a otros sitios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297680"/>
            <a:ext cx="1152144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3891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EF4444"/>
                </a:solidFill>
                <a:latin typeface="Segoe UI"/>
              </a:rPr>
              <a:t>x-dns-prefetch-control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38912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F59E0B"/>
                </a:solidFill>
                <a:latin typeface="Segoe UI"/>
              </a:rPr>
              <a:t>off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38912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Desactiva la resolución DNS anticipada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864608"/>
            <a:ext cx="11521440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95604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EF4444"/>
                </a:solidFill>
                <a:latin typeface="Segoe UI"/>
              </a:rPr>
              <a:t>content-security-policy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4956048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F59E0B"/>
                </a:solidFill>
                <a:latin typeface="Segoe UI"/>
              </a:rPr>
              <a:t>(configurado)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56048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Controla qué scripts/estilos puede cargar la página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" y="555955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Segoe UI"/>
              </a:rPr>
              <a:t>POST sin token → 401 | Token inválido → 401 | Token expirado → 401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46720" y="5212080"/>
            <a:ext cx="3840480" cy="1371600"/>
          </a:xfrm>
          <a:prstGeom prst="rect">
            <a:avLst/>
          </a:prstGeom>
          <a:solidFill>
            <a:srgbClr val="1A283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0" y="56692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366F1"/>
                </a:solidFill>
                <a:latin typeface="Segoe UI"/>
              </a:rPr>
              <a:t>[ Captura: DevTools → Headers
  de seguridad en respuesta 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StudySync API  •  Programación IV — UPDS 2026  •  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Demo Paso 9 — Infrastructure as Code (IaC)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AWS CloudFormation + LocalStack — mismo YAML, diferente comando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IaC ☁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704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¿Qué es IaC? La infraestructura como código: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6642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Segoe UI"/>
              </a:rPr>
              <a:t>Sin IaC (clickops):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9933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1993392"/>
            <a:ext cx="10588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Entrar a la consola AWS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3408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340864"/>
            <a:ext cx="10588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Clic clic clic...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26883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688336"/>
            <a:ext cx="10588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Diferente cada vez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03580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3035808"/>
            <a:ext cx="10588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No se puede reproducir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16642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Segoe UI"/>
              </a:rPr>
              <a:t>Con IaC (CloudFormation):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19933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41648" y="1993392"/>
            <a:ext cx="10588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Escribir template.yaml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3408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1648" y="2340864"/>
            <a:ext cx="10588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Un comando lo crea todo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6883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41648" y="2688336"/>
            <a:ext cx="10588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Idéntico en dev/staging/prod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03580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41648" y="3035808"/>
            <a:ext cx="10588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Versionado en Git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37490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Recursos creados en LocalStack: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133087"/>
            <a:ext cx="5486400" cy="62179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133087"/>
            <a:ext cx="91440" cy="6217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178807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Segoe UI"/>
              </a:rPr>
              <a:t>S3 Bucket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4178807"/>
            <a:ext cx="3108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studysync-adjuntos-development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480559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Almacenamiento de archivos adjuntos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4846320"/>
            <a:ext cx="5486400" cy="62179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4846320"/>
            <a:ext cx="91440" cy="6217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8920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DynamoDB Table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0320" y="4892040"/>
            <a:ext cx="3108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studysync-eventos-development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19379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Registro de eventos con TTL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5559552"/>
            <a:ext cx="5486400" cy="62179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0040" y="5559552"/>
            <a:ext cx="91440" cy="62179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560527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Segoe UI"/>
              </a:rPr>
              <a:t>SSM Parameter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60320" y="5605272"/>
            <a:ext cx="3108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/studysync/development/api-url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907024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Configuración centralizada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3703320"/>
            <a:ext cx="5943600" cy="2834640"/>
          </a:xfrm>
          <a:prstGeom prst="rect">
            <a:avLst/>
          </a:prstGeom>
          <a:solidFill>
            <a:srgbClr val="1A283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0" y="48920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366F1"/>
                </a:solidFill>
                <a:latin typeface="Segoe UI"/>
              </a:rPr>
              <a:t>[ Captura: terminal con resultado
  awslocal cloudformation
  describe-stack-resources --output table 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1965960"/>
            <a:ext cx="36576" cy="13716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StudySync API  •  Programación IV — UPDS 2026  •  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Demo Paso 10 — Repositorio 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github.com/bolivianotech/studysync-api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Open Source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704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Lo que deben ver en el repositorio: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66420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Historial de commits (10 commits):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02996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  <a:latin typeface="Segoe UI"/>
              </a:rPr>
              <a:t>0c14d07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02996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docs: README completo y .env.example para nuevos alumnos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48716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  <a:latin typeface="Segoe UI"/>
              </a:rPr>
              <a:t>6e4b64a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48716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chore: ignorar directorio .claude en git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94436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  <a:latin typeface="Segoe UI"/>
              </a:rPr>
              <a:t>09fe534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94436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docs: guía final IaC, Prisma+Supabase y producción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40156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  <a:latin typeface="Segoe UI"/>
              </a:rPr>
              <a:t>c79fecc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40156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chore: agregar evento de prueba DynamoDB para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85876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  <a:latin typeface="Segoe UI"/>
              </a:rPr>
              <a:t>d0e271f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85876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feat: JWT auth, Prisma+Supabase, Helmet, frontend, CloudFormation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31596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  <a:latin typeface="Segoe UI"/>
              </a:rPr>
              <a:t>f7fca67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31596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fix: corregir puerto Render y completar Redis pub/sub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77316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  <a:latin typeface="Segoe UI"/>
              </a:rPr>
              <a:t>8516f99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77316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feat: swagger UI, CORS, rate-limit, redis pub/sub, socket.io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23036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  <a:latin typeface="Segoe UI"/>
              </a:rPr>
              <a:t>945da3a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23036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feat: CRUD completo de sesiones con 5 endpoints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68756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  <a:latin typeface="Segoe UI"/>
              </a:rPr>
              <a:t>01413ee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68756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feat: setup inicial del proyecto StudySync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1188720"/>
            <a:ext cx="5943600" cy="3017520"/>
          </a:xfrm>
          <a:prstGeom prst="rect">
            <a:avLst/>
          </a:prstGeom>
          <a:solidFill>
            <a:srgbClr val="1A283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0" y="2468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366F1"/>
                </a:solidFill>
                <a:latin typeface="Segoe UI"/>
              </a:rPr>
              <a:t>[ Captura: GitHub — árbol de archivos
  con estructura src/, prisma/,
  cloudformation/, public/ 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4343400"/>
            <a:ext cx="5943600" cy="2194560"/>
          </a:xfrm>
          <a:prstGeom prst="rect">
            <a:avLst/>
          </a:prstGeom>
          <a:solidFill>
            <a:srgbClr val="1A283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52120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366F1"/>
                </a:solidFill>
                <a:latin typeface="Segoe UI"/>
              </a:rPr>
              <a:t>[ Captura: GitHub — historial
  de commits con mensajes
  descriptivos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StudySync API  •  Programación IV — UPDS 2026  •  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Checklist de Verificación Final QA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16 puntos — todos deben estar en verde para aprobar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16/16 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70432"/>
            <a:ext cx="566928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26187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128930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/register crea usuario → id + sin password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70432"/>
            <a:ext cx="566928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26187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59" y="128930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/register email duplicado → 409 Conflict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828800"/>
            <a:ext cx="566928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192024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194767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/login correcto → JWT en respuesta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828800"/>
            <a:ext cx="566928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192024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194767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/login password incorrecto → 401 genérico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487168"/>
            <a:ext cx="566928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257860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2606039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POST sin token → 401 con hint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487168"/>
            <a:ext cx="566928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7648" y="257860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59" y="2606039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DELETE sin token → 401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145536"/>
            <a:ext cx="566928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3236976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326440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GET /api/sesiones sin token → 200 público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145536"/>
            <a:ext cx="566928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27648" y="3236976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59" y="326440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POST con JWT → 201, sesión en Supabase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803904"/>
            <a:ext cx="566928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3895344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" y="392277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PUT con JWT → campos actualizados en Supabase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3803904"/>
            <a:ext cx="566928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27648" y="3895344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59" y="392277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DELETE con JWT → eliminado de Supabase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462272"/>
            <a:ext cx="566928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4048" y="455371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59" y="458114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GET /999 → 404 not found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4462272"/>
            <a:ext cx="566928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27648" y="455371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59" y="458114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Swagger carga con BearerAuth y 4 paths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5120640"/>
            <a:ext cx="566928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4048" y="521208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59" y="523951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Frontend: badge 🟢 Conectado visible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5120640"/>
            <a:ext cx="566928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27648" y="521208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59" y="523951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Crear sesión → feed actualizado en 2 pestañas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5779008"/>
            <a:ext cx="566928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4048" y="587044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59" y="589788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Headers Helmet en respuestas (X-Frame-Options...)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5779008"/>
            <a:ext cx="566928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27648" y="587044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59" y="589788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Deploy Render → ✓ Deployed, sin PORT fijo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StudySync API  •  Programación IV — UPDS 2026  •  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Cobertura — Actividades 3 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Todo lo que aprendieron en este proyecto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Aprobado 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115568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6366F1"/>
                </a:solidFill>
                <a:latin typeface="Segoe UI"/>
              </a:rPr>
              <a:t>ACTIVIDAD 3 — API REST Segura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115568"/>
            <a:ext cx="73152" cy="4846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0020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Segoe UI"/>
              </a:rPr>
              <a:t>✓  API REST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892807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5 endpoints CRUD + 2 de autenticación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5856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Segoe UI"/>
              </a:rPr>
              <a:t>✓  Base de datos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551175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Supabase PostgreSQL con Prisma 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91693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Segoe UI"/>
              </a:rPr>
              <a:t>✓  Autenticación JWT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20954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Register, Login, middleware autenticar.js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57530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Segoe UI"/>
              </a:rPr>
              <a:t>✓  Seguridad HTTP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86791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Helmet: X-Frame-Options, CSP, HSTS y más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23367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Segoe UI"/>
              </a:rPr>
              <a:t>✓  CORS + Rate Limiting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52628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100 req/15min por IP en /api/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Segoe UI"/>
              </a:rPr>
              <a:t>✓  Documentación OpenAPI 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18464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Swagger UI con BearerAuth funcional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1115568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6B6D4"/>
                </a:solidFill>
                <a:latin typeface="Segoe UI"/>
              </a:rPr>
              <a:t>ACTIVIDAD 4 — Tiempo Real e IaC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1115568"/>
            <a:ext cx="73152" cy="4846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60020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Segoe UI"/>
              </a:rPr>
              <a:t>✓  Redis Pub/Sub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1892807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Upstash → eventos publicados en cada creación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258568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Segoe UI"/>
              </a:rPr>
              <a:t>✓  WebSockets Socket.io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551175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Broadcast a todos los clientes conectados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916936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Segoe UI"/>
              </a:rPr>
              <a:t>✓  Frontend en tiempo real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209544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Badge conexión + feed de eventos en vivo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575304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Segoe UI"/>
              </a:rPr>
              <a:t>✓  Infrastructure as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867912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CloudFormation YAML con S3, DynamoDB, SSM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23367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Segoe UI"/>
              </a:rPr>
              <a:t>✓  LocalStack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526280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Simula AWS en Docker — mismo YAML, sin costo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89204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Segoe UI"/>
              </a:rPr>
              <a:t>✓  Deploy CI/CD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5184648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GitHub push → Render despliega automáticamente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StudySync API  •  Programación IV — UPDS 2026  •  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Próximos Pasos — ¿Qué pueden hacer el fin de semana?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El repositorio es tuyo — clónalo, modifícalo, defiéndelo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0" y="228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Weekend Task 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143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Para el fin de semana (defensa el Lunes):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64208"/>
            <a:ext cx="5669280" cy="1417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664208"/>
            <a:ext cx="91440" cy="1417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Clonar el repositorio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103120"/>
            <a:ext cx="5212080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59" y="2139696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6366F1"/>
                </a:solidFill>
                <a:latin typeface="Segoe UI"/>
              </a:rPr>
              <a:t>git clone https://github.com/bolivianotech/studysync-api.git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88336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→ Tener el código localmente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664208"/>
            <a:ext cx="5669280" cy="1417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664208"/>
            <a:ext cx="91440" cy="1417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7373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Crear tus propias credenciales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2103120"/>
            <a:ext cx="5212080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59" y="2139696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06B6D4"/>
                </a:solidFill>
                <a:latin typeface="Segoe UI"/>
              </a:rPr>
              <a:t>Supabase gratis (2 proyectos) + Upstash gratis (10k cmd/día)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688336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→ Tu propia instancia del proyecto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200400"/>
            <a:ext cx="5669280" cy="1417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200400"/>
            <a:ext cx="91440" cy="14173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27355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Hacer npm install y npm run dev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639312"/>
            <a:ext cx="5212080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59" y="3675887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22C55E"/>
                </a:solidFill>
                <a:latin typeface="Segoe UI"/>
              </a:rPr>
              <a:t>El servidor local debe levantar en http://localhost:3000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22452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→ Verificar instalación local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200400"/>
            <a:ext cx="5669280" cy="1417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200400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327355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Crear sesiones con TUS datos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3639312"/>
            <a:ext cx="5212080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59" y="3675887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  <a:latin typeface="Segoe UI"/>
              </a:rPr>
              <a:t>Registrar 3 usuarios distintos, crear 9+ sesiones reales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22452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→ Demostrar que entiendes el flujo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36592"/>
            <a:ext cx="5669280" cy="1417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4736592"/>
            <a:ext cx="91440" cy="1417320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809744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Modificar algo del proyecto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175504"/>
            <a:ext cx="5212080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59" y="5212079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ACC15"/>
                </a:solidFill>
                <a:latin typeface="Segoe UI"/>
              </a:rPr>
              <a:t>Agregar un campo, cambiar el CSS, añadir un endpoint nuevo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76072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→ Demostrar apropiación del código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736592"/>
            <a:ext cx="5669280" cy="1417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7920" y="4736592"/>
            <a:ext cx="91440" cy="1417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4809744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Preparar la demo de 5 minutos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6520" y="5175504"/>
            <a:ext cx="5212080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59" y="5212079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EF4444"/>
                </a:solidFill>
                <a:latin typeface="Segoe UI"/>
              </a:rPr>
              <a:t>Swagger + Supabase + Frontend en tiempo real + GitHub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576072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→ Practicar el guión de presentación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StudySync API  •  Programación IV — UPDS 2026  •  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64992"/>
            <a:ext cx="121889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Segoe UI"/>
              </a:rPr>
              <a:t>¡Proyecto Completado!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4A3B8"/>
                </a:solidFill>
                <a:latin typeface="Segoe UI"/>
              </a:rPr>
              <a:t>StudySync API — en producción, en la nube, con datos reales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2996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6366F1"/>
                </a:solidFill>
                <a:latin typeface="Segoe UI"/>
              </a:rPr>
              <a:t>📦  github.com/bolivianotech/studysync-api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4203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6B6D4"/>
                </a:solidFill>
                <a:latin typeface="Segoe UI"/>
              </a:rPr>
              <a:t>🌐  studysync-api-a5o9.onrender.com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443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C55E"/>
                </a:solidFill>
                <a:latin typeface="Segoe UI"/>
              </a:rPr>
              <a:t>📚  /api-docs  (Swagger UI con todos los endpoints)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Lo que construyeron: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39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ACC15"/>
                </a:solidFill>
                <a:latin typeface="Segoe UI"/>
              </a:rPr>
              <a:t>API REST  •  JWT Auth  •  Prisma ORM  •  Supabase PostgreSQL  •  Redis Pub/Sub
Socket.io WebSockets  •  Helmet Security  •  Swagger OpenAPI  •  CloudFormation IaC
LocalStack Docker  •  Render Deploy  •  Frontend Vanilla JS  •  Git CI/CD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Segoe UI"/>
              </a:rPr>
              <a:t>M.Sc. Jimmy Nataniel Requena Llorentty  •  Programación IV — UPDS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